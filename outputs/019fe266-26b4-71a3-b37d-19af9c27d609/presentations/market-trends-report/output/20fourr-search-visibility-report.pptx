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fab3ca027b4fcd" /><Relationship Type="http://schemas.openxmlformats.org/officeDocument/2006/relationships/extended-properties" Target="/docProps/app.xml" Id="R5a9a264e336743b2" /><Relationship Type="http://schemas.openxmlformats.org/officeDocument/2006/relationships/officeDocument" Target="/ppt/presentation.xml" Id="R817504dc97584a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1efe3d620d4860"/>
  </p:sldMasterIdLst>
  <p:notesMasterIdLst>
    <p:notesMasterId xmlns:r="http://schemas.openxmlformats.org/officeDocument/2006/relationships" r:id="R9b725bf22cba47d0"/>
  </p:notesMasterIdLst>
  <p:sldIdLst>
    <p:sldId xmlns:r="http://schemas.openxmlformats.org/officeDocument/2006/relationships" id="256" r:id="Rc194e76095ce42e9"/>
    <p:sldId xmlns:r="http://schemas.openxmlformats.org/officeDocument/2006/relationships" id="257" r:id="Reac5cf9dd86c4394"/>
    <p:sldId xmlns:r="http://schemas.openxmlformats.org/officeDocument/2006/relationships" id="258" r:id="R210c02233c4545bc"/>
    <p:sldId xmlns:r="http://schemas.openxmlformats.org/officeDocument/2006/relationships" id="259" r:id="R8924301045894dfd"/>
    <p:sldId xmlns:r="http://schemas.openxmlformats.org/officeDocument/2006/relationships" id="260" r:id="R8ac517cf7af24a0d"/>
    <p:sldId xmlns:r="http://schemas.openxmlformats.org/officeDocument/2006/relationships" id="261" r:id="R9a358a2857c044a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1efe3d620d4860" /><Relationship Type="http://schemas.openxmlformats.org/officeDocument/2006/relationships/theme" Target="/ppt/theme/theme1.xml" Id="Rd66b5aca40364e72" /><Relationship Type="http://schemas.openxmlformats.org/officeDocument/2006/relationships/notesMaster" Target="/ppt/notesMasters/notesMaster1.xml" Id="R9b725bf22cba47d0" /><Relationship Type="http://schemas.openxmlformats.org/officeDocument/2006/relationships/presProps" Target="/ppt/presProps.xml" Id="Rb24e617d8a9a4595" /><Relationship Type="http://schemas.openxmlformats.org/officeDocument/2006/relationships/viewProps" Target="/ppt/viewProps.xml" Id="Rb9777510a0e745a2" /><Relationship Type="http://schemas.openxmlformats.org/officeDocument/2006/relationships/tableStyles" Target="/ppt/tableStyles.xml" Id="R0f5235a3fd554d36" /><Relationship Type="http://schemas.openxmlformats.org/officeDocument/2006/relationships/slide" Target="/ppt/slides/slide1.xml" Id="Rc194e76095ce42e9" /><Relationship Type="http://schemas.openxmlformats.org/officeDocument/2006/relationships/slide" Target="/ppt/slides/slide2.xml" Id="Reac5cf9dd86c4394" /><Relationship Type="http://schemas.openxmlformats.org/officeDocument/2006/relationships/slide" Target="/ppt/slides/slide3.xml" Id="R210c02233c4545bc" /><Relationship Type="http://schemas.openxmlformats.org/officeDocument/2006/relationships/slide" Target="/ppt/slides/slide4.xml" Id="R8924301045894dfd" /><Relationship Type="http://schemas.openxmlformats.org/officeDocument/2006/relationships/slide" Target="/ppt/slides/slide5.xml" Id="R8ac517cf7af24a0d" /><Relationship Type="http://schemas.openxmlformats.org/officeDocument/2006/relationships/slide" Target="/ppt/slides/slide6.xml" Id="R9a358a2857c044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fc4c86c03f341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odex Colors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dex Color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a4fdb954ff4278" /><Relationship Type="http://schemas.openxmlformats.org/officeDocument/2006/relationships/notesMaster" Target="/ppt/notesMasters/notesMaster1.xml" Id="R501a2f4d52b14c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e92e1b30ff40ec" /><Relationship Type="http://schemas.openxmlformats.org/officeDocument/2006/relationships/notesMaster" Target="/ppt/notesMasters/notesMaster1.xml" Id="R222595d8c1e048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158fe9a1f9409e" /><Relationship Type="http://schemas.openxmlformats.org/officeDocument/2006/relationships/notesMaster" Target="/ppt/notesMasters/notesMaster1.xml" Id="R95d68fbb95e545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29631df93d4fc6" /><Relationship Type="http://schemas.openxmlformats.org/officeDocument/2006/relationships/notesMaster" Target="/ppt/notesMasters/notesMaster1.xml" Id="Rb6cc375e6a2b4a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442d43d560411d" /><Relationship Type="http://schemas.openxmlformats.org/officeDocument/2006/relationships/notesMaster" Target="/ppt/notesMasters/notesMaster1.xml" Id="R9f67314a2df54b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8bcb0cc9164d92" /><Relationship Type="http://schemas.openxmlformats.org/officeDocument/2006/relationships/notesMaster" Target="/ppt/notesMasters/notesMaster1.xml" Id="Rfbcdbf90b4fb4b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a09105814f447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5601570b1c4c1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426a50839e4aa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d6ae54c7e5448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b93cbcd35e418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46dfa4451f4d4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63a333a1e34af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02caed275c4378" /></Relationships>
</file>

<file path=ppt/slideLayouts/slideLayout2.xml><?xml version="1.0" encoding="utf-8"?>
<p:sldLayout xmlns:p="http://schemas.openxmlformats.org/presentationml/2006/main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/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/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/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/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/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/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/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/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/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/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/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/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/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/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6b91690236a4e04" /><Relationship Type="http://schemas.openxmlformats.org/officeDocument/2006/relationships/slideLayout" Target="/ppt/slideLayouts/slideLayout2.xml" Id="R5911f9bfc64040a0" /><Relationship Type="http://schemas.openxmlformats.org/officeDocument/2006/relationships/slideLayout" Target="/ppt/slideLayouts/slideLayout3.xml" Id="Reaf18423d8604250" /><Relationship Type="http://schemas.openxmlformats.org/officeDocument/2006/relationships/slideLayout" Target="/ppt/slideLayouts/slideLayout4.xml" Id="Refda75b8955c4ac4" /><Relationship Type="http://schemas.openxmlformats.org/officeDocument/2006/relationships/slideLayout" Target="/ppt/slideLayouts/slideLayout5.xml" Id="R7d2959bdc6744d52" /><Relationship Type="http://schemas.openxmlformats.org/officeDocument/2006/relationships/slideLayout" Target="/ppt/slideLayouts/slideLayout6.xml" Id="R507ff4a148f54c4f" /><Relationship Type="http://schemas.openxmlformats.org/officeDocument/2006/relationships/slideLayout" Target="/ppt/slideLayouts/slideLayout7.xml" Id="R27e794fb29884f14" /><Relationship Type="http://schemas.openxmlformats.org/officeDocument/2006/relationships/slideLayout" Target="/ppt/slideLayouts/slideLayout8.xml" Id="R90cfaa401ad74c05" /><Relationship Type="http://schemas.openxmlformats.org/officeDocument/2006/relationships/slideLayout" Target="/ppt/slideLayouts/slideLayout9.xml" Id="Rb3848d62d033493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11f9bfc64040a0"/>
    <p:sldLayoutId xmlns:r="http://schemas.openxmlformats.org/officeDocument/2006/relationships" id="2147483650" r:id="Reaf18423d8604250"/>
    <p:sldLayoutId xmlns:r="http://schemas.openxmlformats.org/officeDocument/2006/relationships" id="2147483651" r:id="Refda75b8955c4ac4"/>
    <p:sldLayoutId xmlns:r="http://schemas.openxmlformats.org/officeDocument/2006/relationships" id="2147483652" r:id="R7d2959bdc6744d52"/>
    <p:sldLayoutId xmlns:r="http://schemas.openxmlformats.org/officeDocument/2006/relationships" id="2147483653" r:id="R507ff4a148f54c4f"/>
    <p:sldLayoutId xmlns:r="http://schemas.openxmlformats.org/officeDocument/2006/relationships" id="2147483654" r:id="R27e794fb29884f14"/>
    <p:sldLayoutId xmlns:r="http://schemas.openxmlformats.org/officeDocument/2006/relationships" id="2147483655" r:id="R90cfaa401ad74c05"/>
    <p:sldLayoutId xmlns:r="http://schemas.openxmlformats.org/officeDocument/2006/relationships" id="2147483656" r:id="Rb3848d62d03349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29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ad8d8f066a47e3" /><Relationship Type="http://schemas.openxmlformats.org/officeDocument/2006/relationships/notesSlide" Target="/ppt/notesSlides/notesSlide1.xml" Id="R9faba655516c45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f6436fa063549f8" /><Relationship Type="http://schemas.openxmlformats.org/officeDocument/2006/relationships/notesSlide" Target="/ppt/notesSlides/notesSlide2.xml" Id="R5754b85f057549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7f4789d9069426a" /><Relationship Type="http://schemas.openxmlformats.org/officeDocument/2006/relationships/notesSlide" Target="/ppt/notesSlides/notesSlide3.xml" Id="R4fca09e308e64a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30058ec4c1946e3" /><Relationship Type="http://schemas.openxmlformats.org/officeDocument/2006/relationships/image" Target="/ppt/media/image.jpeg" Id="Rb4999ab1f3014e7e" /><Relationship Type="http://schemas.openxmlformats.org/officeDocument/2006/relationships/notesSlide" Target="/ppt/notesSlides/notesSlide4.xml" Id="Rd429782fb75947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0d1e5f52bc54b37" /><Relationship Type="http://schemas.openxmlformats.org/officeDocument/2006/relationships/notesSlide" Target="/ppt/notesSlides/notesSlide5.xml" Id="R344718d2cbf646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7e55b5efbfe403b" /><Relationship Type="http://schemas.openxmlformats.org/officeDocument/2006/relationships/notesSlide" Target="/ppt/notesSlides/notesSlide6.xml" Id="Re92798ed6925444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4079" y="2031642"/>
            <a:ext cx="11063842" cy="249149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latin typeface="Lora"/>
                <a:ea typeface="Lora"/>
                <a:cs typeface="Lora"/>
              </a:rPr>
              <a:t>20fourr.com</a:t>
            </a:r>
          </a:p>
          <a:p xmlns:a="http://schemas.openxmlformats.org/drawingml/2006/main">
            <a:pPr algn="ctr">
              <a:buNone/>
            </a:pPr>
            <a:r>
              <a:rPr sz="7200">
                <a:latin typeface="Lora"/>
                <a:ea typeface="Lora"/>
                <a:cs typeface="Lora"/>
              </a:rPr>
              <a:t>Search Visibility Report</a:t>
            </a:r>
          </a:p>
        </p:txBody>
      </p:sp>
      <p:sp>
        <p:nvSpPr>
          <p:cNvPr id="13" name="Subtitle 12">
            <a:extLst xmlns:a="http://schemas.openxmlformats.org/drawingml/2006/main">
              <a:ext uri="{FF2B5EF4-FFF2-40B4-BE49-F238E27FC236}">
                <a16:creationId xmlns:a16="http://schemas.microsoft.com/office/drawing/2014/main" id="{8063C0C5-ECDE-60AC-E3F5-DA7ED369D6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398999" y="5045149"/>
            <a:ext cx="7394002" cy="794439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What Google is showing today — and the SEO moves that can expand demand capture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1352742"/>
            <a:ext cx="5702300" cy="3617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>
                <a:solidFill>
                  <a:srgbClr val="FF4709"/>
                </a:solidFill>
                <a:latin typeface="Roboto"/>
                <a:ea typeface="Roboto"/>
                <a:cs typeface="Roboto"/>
              </a:rPr>
              <a:t>AUGUST 2026 SNAPSHOT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Google Search Console • 20fourr.com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80202" y="1553822"/>
            <a:ext cx="9031596" cy="1262107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/>
              <a:t>Page-one presence is not yet demand capture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2147257" y="3329711"/>
            <a:ext cx="7897486" cy="261636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/>
              <a:t>20fourr appears around position 8.1 when it is shown, but the site has generated only 21 impressions and 3 clicks in the supplied period. The near-term opportunity is to connect the existing security offer to the broader service language buyers actually use.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3E4FFF9D-7D5C-DB8C-D20B-817FA574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1001877"/>
            <a:ext cx="5702300" cy="3617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>
                <a:solidFill>
                  <a:schemeClr val="bg1">
                    <a:lumMod val="65000"/>
                    <a:lumOff val="35000"/>
                  </a:schemeClr>
                </a:solidFill>
                <a:latin typeface="Roboto"/>
                <a:ea typeface="Roboto"/>
                <a:cs typeface="Roboto"/>
              </a:rPr>
              <a:t>THESIS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Google Search Console • supplied snapshot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531203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Three signals define the current baseline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The site is earning page-one visibility for a very small set of niche searches. This is encouraging for relevance, but not enough volume to create a dependable organic acquisition channel.</a:t>
            </a:r>
          </a:p>
        </p:txBody>
      </p:sp>
      <p:sp>
        <p:nvSpPr>
          <p:cNvPr id="1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71D2425F-989C-9570-E60C-C4CFCBC5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56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8018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500" u="none">
                <a:solidFill>
                  <a:srgbClr val="FF4305"/>
                </a:solidFill>
              </a:rPr>
              <a:t>21</a:t>
            </a:r>
          </a:p>
        </p:txBody>
      </p:sp>
      <p:sp>
        <p:nvSpPr>
          <p:cNvPr id="1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FA8062-B7A0-A104-9AAD-F21A3F25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56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/>
              <a:t>total impressions in the supplied period</a:t>
            </a:r>
          </a:p>
        </p:txBody>
      </p:sp>
      <p:sp>
        <p:nvSpPr>
          <p:cNvPr id="1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7240227-0821-E266-E2C3-115ABA62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280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8018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500" u="none">
                <a:solidFill>
                  <a:srgbClr val="FF4305"/>
                </a:solidFill>
              </a:rPr>
              <a:t>3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D91BFBF-1C92-F26C-E60C-53D2ABA1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280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/>
              <a:t>organic clicks</a:t>
            </a: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FE3A416-C709-ABBB-9B4C-F33DBB30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304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8018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500" u="none">
                <a:solidFill>
                  <a:srgbClr val="FF4305"/>
                </a:solidFill>
              </a:rPr>
              <a:t>8.1</a:t>
            </a:r>
          </a:p>
        </p:txBody>
      </p:sp>
      <p:sp>
        <p:nvSpPr>
          <p:cNvPr id="2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D9E076D-AB6A-B811-2DCD-DFF54871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304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/>
              <a:t>average position when shown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SEARCH INTENT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Align the query to the service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5A7115C-83FA-26C1-A475-11085626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FF4305"/>
                </a:solidFill>
              </a:rPr>
              <a:t>Niche queries are a starting signal, not the strategy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6EE50BE-D82B-E1E1-5863-AFDFAD93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9234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Aft>
                <a:spcPts val="800"/>
              </a:spcAft>
              <a:buNone/>
            </a:pPr>
            <a:r>
              <a:t>Impressions cluster around “private gunman” and “gun man security.” Make the broader offer explicit: private security agency services, manned guarding, event security, armed security and executive protection.</a:t>
            </a:r>
          </a:p>
          <a:p xmlns:a="http://schemas.openxmlformats.org/drawingml/2006/main">
            <a:pPr>
              <a:lnSpc>
                <a:spcPct val="114000"/>
              </a:lnSpc>
              <a:spcAft>
                <a:spcPts val="800"/>
              </a:spcAft>
              <a:buNone/>
            </a:pPr>
            <a:r>
              <a:t/>
            </a:r>
          </a:p>
          <a:p xmlns:a="http://schemas.openxmlformats.org/drawingml/2006/main">
            <a:pPr>
              <a:lnSpc>
                <a:spcPct val="114000"/>
              </a:lnSpc>
              <a:spcAft>
                <a:spcPts val="800"/>
              </a:spcAft>
              <a:buNone/>
            </a:pPr>
            <a:r>
              <a:t>The service inventory exists. Give each intent and location a clear landing path.</a:t>
            </a:r>
          </a:p>
        </p:txBody>
      </p:sp>
      <p:pic>
        <p:nvPicPr>
          <p:cNvPr id="5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999ab1f3014e7e"/>
          <a:stretch xmlns:a="http://schemas.openxmlformats.org/drawingml/2006/main"/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SEO FOUNDATION • 30 DAYS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Fix the foundation before scaling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FF4305"/>
                </a:solidFill>
              </a:rPr>
              <a:t>Build the pages Google can understand, make important URLs easy to crawl, then add authority and measurement.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/>
              <a:t>CONTENT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9234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Aft>
                <a:spcPts val="800"/>
              </a:spcAft>
              <a:buNone/>
            </a:pPr>
            <a:r>
              <a:t>Expand service pages with intent-led copy. Add unique city pages only where coverage is real.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/>
              <a:t>INDEXING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/>
              <a:t>ON-PAGE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/>
              <a:t>LOCAL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/>
              <a:t>MEASURE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Google Search Console • next actions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Turn page-one relevance into a repeatable acquisition loop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F4709"/>
                </a:solidFill>
              </a:rPr>
              <a:t>NOW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/>
              <a:t>Ship intent-led service copy, unique titles and descriptions, and one clear H1/H2 structure per page.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F4709"/>
                </a:solidFill>
              </a:rPr>
              <a:t>NEXT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/>
              <a:t>Verify important URLs in the Pages report, submit the XML sitemap, and inspect canonical / robots issues.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F4709"/>
                </a:solidFill>
              </a:rPr>
              <a:t>THEN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/>
              <a:t>Create or improve the Google Business Profile, earn local citations, and track queries, impressions, CTR and position weekly.</a:t>
            </a: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Start with the pages and signals that can compound. Do not forecast traffic from this snapshot; use the next reporting cycle to test whether impressions broaden and clicks follow.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theme/theme1.xml><?xml version="1.0" encoding="utf-8"?>
<a:theme xmlns:a="http://schemas.openxmlformats.org/drawingml/2006/main" name="Codex Colors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dex Color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2026-08-08T17:51:43.8190000Z</dcterms:created>
  <dcterms:modified xsi:type="dcterms:W3CDTF">2026-08-08T17:51:43.8190000Z</dcterms:modified>
</coreProperties>
</file>